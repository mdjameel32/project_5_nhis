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422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1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FE91-D33A-4FB0-80BB-5758D709F570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 advClick="0" advTm="1000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00200" y="838200"/>
            <a:ext cx="64216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NextHikes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IT Solutions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2048470"/>
            <a:ext cx="31839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Project – 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3363" y="3512403"/>
            <a:ext cx="8612037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u="sng" dirty="0" smtClean="0">
                <a:solidFill>
                  <a:srgbClr val="FFFF00"/>
                </a:solidFill>
              </a:rPr>
              <a:t>User Analytics in the Telecommunication </a:t>
            </a:r>
            <a:r>
              <a:rPr lang="en-US" sz="3200" b="1" u="sng" dirty="0" smtClean="0">
                <a:solidFill>
                  <a:srgbClr val="FFFF00"/>
                </a:solidFill>
              </a:rPr>
              <a:t>Industry</a:t>
            </a:r>
            <a:endParaRPr lang="en-US" sz="3200" b="1" u="sng" dirty="0" smtClean="0">
              <a:solidFill>
                <a:srgbClr val="FFFF00"/>
              </a:solidFill>
            </a:endParaRPr>
          </a:p>
          <a:p>
            <a:pPr algn="ctr"/>
            <a:endParaRPr lang="en-US" sz="3200" b="1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71800" y="4648200"/>
            <a:ext cx="357181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Name - </a:t>
            </a:r>
            <a:r>
              <a:rPr lang="en-US" sz="4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Jameel</a:t>
            </a:r>
            <a:endParaRPr lang="en-US" sz="4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81200" y="5862935"/>
            <a:ext cx="56445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Post Graduate Program in Data Science &amp; AI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481078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 smtClean="0">
                <a:solidFill>
                  <a:srgbClr val="FFFF00"/>
                </a:solidFill>
              </a:rPr>
              <a:t>Handset </a:t>
            </a:r>
            <a:r>
              <a:rPr lang="en-US" sz="2400" b="1" u="sng" dirty="0" smtClean="0">
                <a:solidFill>
                  <a:srgbClr val="FFFF00"/>
                </a:solidFill>
              </a:rPr>
              <a:t>M</a:t>
            </a:r>
            <a:r>
              <a:rPr lang="en-US" sz="2400" b="1" u="sng" dirty="0" smtClean="0">
                <a:solidFill>
                  <a:srgbClr val="FFFF00"/>
                </a:solidFill>
              </a:rPr>
              <a:t>arke</a:t>
            </a:r>
            <a:r>
              <a:rPr lang="en-US" sz="2400" b="1" u="sng" dirty="0" smtClean="0">
                <a:solidFill>
                  <a:srgbClr val="FFFF00"/>
                </a:solidFill>
              </a:rPr>
              <a:t>t Dominance</a:t>
            </a:r>
            <a:r>
              <a:rPr lang="en-US" sz="2400" u="sng" dirty="0" smtClean="0">
                <a:solidFill>
                  <a:srgbClr val="FFFF00"/>
                </a:solidFill>
              </a:rPr>
              <a:t>:</a:t>
            </a:r>
            <a:r>
              <a:rPr lang="en-US" sz="2400" dirty="0" smtClean="0"/>
              <a:t> A disproportionate majority of the top 10 handsets used on the network are premium devices manufactured by </a:t>
            </a:r>
            <a:r>
              <a:rPr lang="en-US" sz="2400" b="1" dirty="0" smtClean="0"/>
              <a:t>Apple (</a:t>
            </a:r>
            <a:r>
              <a:rPr lang="en-US" sz="2400" b="1" dirty="0" err="1" smtClean="0"/>
              <a:t>iPhones</a:t>
            </a:r>
            <a:r>
              <a:rPr lang="en-US" sz="2400" b="1" dirty="0" smtClean="0"/>
              <a:t>)</a:t>
            </a:r>
            <a:r>
              <a:rPr lang="en-US" sz="2400" dirty="0" smtClean="0"/>
              <a:t> and </a:t>
            </a:r>
            <a:r>
              <a:rPr lang="en-US" sz="2400" b="1" dirty="0" smtClean="0"/>
              <a:t>Samsung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 algn="just"/>
            <a:r>
              <a:rPr lang="en-US" sz="2400" b="1" u="sng" dirty="0" smtClean="0">
                <a:solidFill>
                  <a:srgbClr val="FFFF00"/>
                </a:solidFill>
              </a:rPr>
              <a:t>OEM Marketing Opportunities: </a:t>
            </a:r>
            <a:r>
              <a:rPr lang="en-US" sz="2400" dirty="0" smtClean="0"/>
              <a:t>Marketing teams should target the top 3 manufacturers (</a:t>
            </a:r>
            <a:r>
              <a:rPr lang="en-US" sz="2400" b="1" dirty="0" smtClean="0"/>
              <a:t>Apple, Samsung, and </a:t>
            </a:r>
            <a:r>
              <a:rPr lang="en-US" sz="2400" b="1" dirty="0" err="1" smtClean="0"/>
              <a:t>Huawei</a:t>
            </a:r>
            <a:r>
              <a:rPr lang="en-US" sz="2400" dirty="0" smtClean="0"/>
              <a:t>) (p. 2). Launching brand-specific device upgrade campaigns or trade-in programs will systematically migrate low-tier users to high-throughput devices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>
                <a:solidFill>
                  <a:srgbClr val="FFFF00"/>
                </a:solidFill>
              </a:rPr>
              <a:t>Application Traffic Breakdown: </a:t>
            </a:r>
            <a:r>
              <a:rPr lang="en-US" sz="2400" dirty="0" smtClean="0"/>
              <a:t>Data volume consumption is heavily top-heavy. </a:t>
            </a:r>
            <a:endParaRPr lang="en-US" sz="24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1524000" y="381000"/>
            <a:ext cx="63721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smtClean="0"/>
              <a:t>User </a:t>
            </a:r>
            <a:r>
              <a:rPr lang="en-US" sz="3600" b="1" u="sng" dirty="0" smtClean="0"/>
              <a:t>Overview Insights (Task 1)</a:t>
            </a:r>
            <a:endParaRPr lang="en-US" sz="3600" u="sng" dirty="0"/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1066800"/>
            <a:ext cx="8153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sng" dirty="0" smtClean="0">
                <a:solidFill>
                  <a:srgbClr val="FFFF00"/>
                </a:solidFill>
              </a:rPr>
              <a:t>Gaming and </a:t>
            </a:r>
            <a:r>
              <a:rPr lang="en-US" sz="2400" b="1" u="sng" dirty="0" err="1" smtClean="0">
                <a:solidFill>
                  <a:srgbClr val="FFFF00"/>
                </a:solidFill>
              </a:rPr>
              <a:t>Youtube</a:t>
            </a:r>
            <a:r>
              <a:rPr lang="en-US" sz="2400" b="1" u="sng" dirty="0" smtClean="0">
                <a:solidFill>
                  <a:srgbClr val="FFFF00"/>
                </a:solidFill>
              </a:rPr>
              <a:t> (Video Streaming)</a:t>
            </a:r>
            <a:r>
              <a:rPr lang="en-US" sz="2400" dirty="0" smtClean="0"/>
              <a:t> account for the absolute majority of network bandwidth (p. 3). In contrast, basic utilities like Email and Social Media generate minimal data </a:t>
            </a:r>
            <a:r>
              <a:rPr lang="en-US" sz="2400" dirty="0" smtClean="0"/>
              <a:t>footprints.</a:t>
            </a:r>
          </a:p>
          <a:p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b="1" u="sng" dirty="0" smtClean="0">
                <a:solidFill>
                  <a:srgbClr val="FFFF00"/>
                </a:solidFill>
              </a:rPr>
              <a:t>Heavy User Segments (</a:t>
            </a:r>
            <a:r>
              <a:rPr lang="en-US" sz="2400" b="1" u="sng" dirty="0" err="1" smtClean="0">
                <a:solidFill>
                  <a:srgbClr val="FFFF00"/>
                </a:solidFill>
              </a:rPr>
              <a:t>Decile</a:t>
            </a:r>
            <a:r>
              <a:rPr lang="en-US" sz="2400" b="1" u="sng" dirty="0" smtClean="0">
                <a:solidFill>
                  <a:srgbClr val="FFFF00"/>
                </a:solidFill>
              </a:rPr>
              <a:t> Class): </a:t>
            </a:r>
            <a:r>
              <a:rPr lang="en-US" sz="2400" dirty="0" smtClean="0"/>
              <a:t>Non-graphical </a:t>
            </a:r>
            <a:r>
              <a:rPr lang="en-US" sz="2400" dirty="0" err="1" smtClean="0"/>
              <a:t>univariate</a:t>
            </a:r>
            <a:r>
              <a:rPr lang="en-US" sz="2400" dirty="0" smtClean="0"/>
              <a:t> and </a:t>
            </a:r>
            <a:r>
              <a:rPr lang="en-US" sz="2400" dirty="0" err="1" smtClean="0"/>
              <a:t>decile</a:t>
            </a:r>
            <a:r>
              <a:rPr lang="en-US" sz="2400" dirty="0" smtClean="0"/>
              <a:t> analysis prove that the data distribution is heavily right-skewed (p. 3). The top 2 deciles (top 20% of users) consume a vast majority of the network’s total data </a:t>
            </a:r>
            <a:r>
              <a:rPr lang="en-US" sz="2400" dirty="0" smtClean="0"/>
              <a:t>volume.</a:t>
            </a:r>
            <a:endParaRPr lang="en-US" sz="2400" dirty="0"/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57200" y="1219200"/>
            <a:ext cx="8305800" cy="566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244398" rIns="0" bIns="24439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Google Sans"/>
                <a:cs typeface="Arial" pitchFamily="34" charset="0"/>
              </a:rPr>
              <a:t>Customer Behavioral Clustering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 The K-Means algorithm successfully classifies users into 3 distinct operational segments: High, Medium, and Low engagement cohorts based on session frequencies, duration, and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u="sng" dirty="0" smtClean="0">
                <a:solidFill>
                  <a:srgbClr val="FFFF00"/>
                </a:solidFill>
                <a:latin typeface="Google Sans"/>
                <a:cs typeface="Arial" pitchFamily="34" charset="0"/>
              </a:rPr>
              <a:t>Resource Optimization: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High Engagement Cluster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 features users who remain connected for long durations and generate maximum data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u="sng" dirty="0" smtClean="0">
                <a:solidFill>
                  <a:srgbClr val="FFFF00"/>
                </a:solidFill>
                <a:latin typeface="Google Sans"/>
                <a:cs typeface="Arial" pitchFamily="34" charset="0"/>
              </a:rPr>
              <a:t>Network Infrastructure Guidance: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Technical teams must actively redirect infrastructure resources and optimize cell-tower bandwidth in localized geographical areas where high-engagement customer clusters are densely active (p. 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533400"/>
            <a:ext cx="7844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u="sng" dirty="0" smtClean="0">
                <a:latin typeface="Google Sans"/>
                <a:cs typeface="Arial" pitchFamily="34" charset="0"/>
              </a:rPr>
              <a:t>User Engagement Insights (Task 2)</a:t>
            </a:r>
            <a:endParaRPr lang="en-US" sz="3600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447800"/>
            <a:ext cx="84582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u="sng" dirty="0" smtClean="0">
                <a:solidFill>
                  <a:srgbClr val="FFFF00"/>
                </a:solidFill>
              </a:rPr>
              <a:t>Hardware </a:t>
            </a:r>
            <a:r>
              <a:rPr lang="en-US" sz="2200" b="1" u="sng" dirty="0" smtClean="0">
                <a:solidFill>
                  <a:srgbClr val="FFFF00"/>
                </a:solidFill>
              </a:rPr>
              <a:t>Bottlenecks</a:t>
            </a:r>
            <a:r>
              <a:rPr lang="en-US" sz="2200" u="sng" dirty="0" smtClean="0">
                <a:solidFill>
                  <a:srgbClr val="FFFF00"/>
                </a:solidFill>
              </a:rPr>
              <a:t>:</a:t>
            </a:r>
            <a:r>
              <a:rPr lang="en-US" sz="2200" dirty="0" smtClean="0"/>
              <a:t> Customers operating older or lower-specification handset models suffer from elevated </a:t>
            </a:r>
            <a:r>
              <a:rPr lang="en-US" sz="2200" b="1" dirty="0" smtClean="0"/>
              <a:t>TCP Retransmission Volumes</a:t>
            </a:r>
            <a:r>
              <a:rPr lang="en-US" sz="2200" dirty="0" smtClean="0"/>
              <a:t> and high </a:t>
            </a:r>
            <a:r>
              <a:rPr lang="en-US" sz="2200" b="1" dirty="0" smtClean="0"/>
              <a:t>Round Trip Time (RTT)</a:t>
            </a:r>
            <a:r>
              <a:rPr lang="en-US" sz="2200" dirty="0" smtClean="0"/>
              <a:t> </a:t>
            </a:r>
            <a:r>
              <a:rPr lang="en-US" sz="2200" dirty="0" smtClean="0"/>
              <a:t>latencies. </a:t>
            </a:r>
            <a:r>
              <a:rPr lang="en-US" sz="2200" dirty="0" smtClean="0"/>
              <a:t>This hardware constraint degrades their perceived network </a:t>
            </a:r>
            <a:r>
              <a:rPr lang="en-US" sz="2200" dirty="0" smtClean="0"/>
              <a:t>performance.</a:t>
            </a:r>
            <a:endParaRPr lang="en-US" sz="2200" dirty="0" smtClean="0"/>
          </a:p>
          <a:p>
            <a:pPr algn="just"/>
            <a:endParaRPr lang="en-US" sz="2200" b="1" dirty="0" smtClean="0"/>
          </a:p>
          <a:p>
            <a:pPr algn="just"/>
            <a:r>
              <a:rPr lang="en-US" sz="2200" b="1" u="sng" dirty="0" smtClean="0">
                <a:solidFill>
                  <a:srgbClr val="FFFF00"/>
                </a:solidFill>
              </a:rPr>
              <a:t>Throughput Distribution</a:t>
            </a:r>
            <a:r>
              <a:rPr lang="en-US" sz="2200" dirty="0" smtClean="0"/>
              <a:t>: Average throughput spikes drastically among users carrying flagship LTE/5G smart </a:t>
            </a:r>
            <a:r>
              <a:rPr lang="en-US" sz="2200" dirty="0" smtClean="0"/>
              <a:t>devices. </a:t>
            </a:r>
            <a:r>
              <a:rPr lang="en-US" sz="2200" dirty="0" smtClean="0"/>
              <a:t>This proves that user device characteristics are directly gating application </a:t>
            </a:r>
            <a:r>
              <a:rPr lang="en-US" sz="2200" dirty="0" smtClean="0"/>
              <a:t>performance.</a:t>
            </a:r>
            <a:endParaRPr lang="en-US" sz="2200" dirty="0" smtClean="0"/>
          </a:p>
          <a:p>
            <a:pPr algn="just"/>
            <a:endParaRPr lang="en-US" sz="2200" b="1" dirty="0" smtClean="0"/>
          </a:p>
          <a:p>
            <a:pPr algn="just"/>
            <a:r>
              <a:rPr lang="en-US" sz="2200" b="1" u="sng" dirty="0" smtClean="0">
                <a:solidFill>
                  <a:srgbClr val="FFFF00"/>
                </a:solidFill>
              </a:rPr>
              <a:t>Quality of Service (</a:t>
            </a:r>
            <a:r>
              <a:rPr lang="en-US" sz="2200" b="1" u="sng" dirty="0" err="1" smtClean="0">
                <a:solidFill>
                  <a:srgbClr val="FFFF00"/>
                </a:solidFill>
              </a:rPr>
              <a:t>QoS</a:t>
            </a:r>
            <a:r>
              <a:rPr lang="en-US" sz="2200" b="1" u="sng" dirty="0" smtClean="0">
                <a:solidFill>
                  <a:srgbClr val="FFFF00"/>
                </a:solidFill>
              </a:rPr>
              <a:t>) Segments</a:t>
            </a:r>
            <a:r>
              <a:rPr lang="en-US" sz="2200" dirty="0" smtClean="0"/>
              <a:t>: K-Means clustering highlights a specific segment of users experiencing poor performance (Low Throughput, High Packet Drop Rate</a:t>
            </a:r>
            <a:r>
              <a:rPr lang="en-US" sz="2200" dirty="0" smtClean="0"/>
              <a:t>). </a:t>
            </a:r>
            <a:r>
              <a:rPr lang="en-US" sz="2200" dirty="0" smtClean="0"/>
              <a:t>These users represent the highest churn risk for </a:t>
            </a:r>
            <a:r>
              <a:rPr lang="en-US" sz="2200" dirty="0" err="1" smtClean="0"/>
              <a:t>TellCo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1095583" y="304800"/>
            <a:ext cx="69054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smtClean="0"/>
              <a:t>. User Experience Analytics (Task 3)</a:t>
            </a:r>
            <a:endParaRPr lang="en-US" sz="3600" u="sng" dirty="0"/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8288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 smtClean="0">
                <a:solidFill>
                  <a:srgbClr val="FFFF00"/>
                </a:solidFill>
              </a:rPr>
              <a:t>Satisfaction </a:t>
            </a:r>
            <a:r>
              <a:rPr lang="en-US" sz="2400" b="1" u="sng" dirty="0" smtClean="0">
                <a:solidFill>
                  <a:srgbClr val="FFFF00"/>
                </a:solidFill>
              </a:rPr>
              <a:t>Drivers</a:t>
            </a:r>
            <a:r>
              <a:rPr lang="en-US" sz="2400" u="sng" dirty="0" smtClean="0">
                <a:solidFill>
                  <a:srgbClr val="FFFF00"/>
                </a:solidFill>
              </a:rPr>
              <a:t>:</a:t>
            </a:r>
            <a:r>
              <a:rPr lang="en-US" sz="2400" dirty="0" smtClean="0"/>
              <a:t> Customer satisfaction scores are directly tied to user </a:t>
            </a:r>
            <a:r>
              <a:rPr lang="en-US" sz="2400" dirty="0" smtClean="0"/>
              <a:t>experience. </a:t>
            </a:r>
            <a:r>
              <a:rPr lang="en-US" sz="2400" dirty="0" smtClean="0"/>
              <a:t>High throughput combined with low latency results in premium customer satisfaction </a:t>
            </a:r>
            <a:r>
              <a:rPr lang="en-US" sz="2400" dirty="0" smtClean="0"/>
              <a:t>vectors.</a:t>
            </a:r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u="sng" dirty="0" smtClean="0">
                <a:solidFill>
                  <a:srgbClr val="FFFF00"/>
                </a:solidFill>
              </a:rPr>
              <a:t>Undervalued Asset Potential</a:t>
            </a:r>
            <a:r>
              <a:rPr lang="en-US" sz="2400" u="sng" dirty="0" smtClean="0">
                <a:solidFill>
                  <a:srgbClr val="FFFF00"/>
                </a:solidFill>
              </a:rPr>
              <a:t>:</a:t>
            </a:r>
            <a:r>
              <a:rPr lang="en-US" sz="2400" dirty="0" smtClean="0"/>
              <a:t> </a:t>
            </a:r>
            <a:r>
              <a:rPr lang="en-US" sz="2400" dirty="0" err="1" smtClean="0"/>
              <a:t>TellCo's</a:t>
            </a:r>
            <a:r>
              <a:rPr lang="en-US" sz="2400" dirty="0" smtClean="0"/>
              <a:t> current owners have completely neglected system-generated user </a:t>
            </a:r>
            <a:r>
              <a:rPr lang="en-US" sz="2400" dirty="0" smtClean="0"/>
              <a:t>data. </a:t>
            </a:r>
            <a:r>
              <a:rPr lang="en-US" sz="2400" dirty="0" smtClean="0"/>
              <a:t>This analytical void presents a massive business optimization opportunity for an incoming </a:t>
            </a:r>
            <a:r>
              <a:rPr lang="en-US" sz="2400" dirty="0" smtClean="0"/>
              <a:t>investor.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/>
              <a:t>Strategic Investment Recommendation &amp; Limitations (Task 4 &amp; Final)</a:t>
            </a:r>
            <a:endParaRPr lang="en-US" sz="3600" u="sng" dirty="0"/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0"/>
            <a:ext cx="869037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197381" y="725269"/>
            <a:ext cx="67274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smtClean="0">
                <a:solidFill>
                  <a:srgbClr val="FFFF00"/>
                </a:solidFill>
              </a:rPr>
              <a:t>Top 10 Handset Used by Customer</a:t>
            </a:r>
            <a:endParaRPr lang="en-US" sz="3600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514600"/>
            <a:ext cx="7950771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90677" y="725269"/>
            <a:ext cx="77437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smtClean="0">
                <a:solidFill>
                  <a:srgbClr val="FFFF00"/>
                </a:solidFill>
              </a:rPr>
              <a:t>Top 3 Handset Manufacturers Company</a:t>
            </a:r>
            <a:endParaRPr lang="en-US" sz="3600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590800"/>
            <a:ext cx="869037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9600" y="457200"/>
            <a:ext cx="746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rgbClr val="FFFF00"/>
                </a:solidFill>
              </a:rPr>
              <a:t>Top 5 handsets per top 3 handset manufacturer</a:t>
            </a:r>
            <a:endParaRPr lang="en-US" sz="3600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062481" cy="332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810000"/>
            <a:ext cx="8077200" cy="301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199"/>
            <a:ext cx="8763000" cy="662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"/>
            <a:ext cx="7924800" cy="6584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1" y="532349"/>
            <a:ext cx="8229600" cy="586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762000"/>
            <a:ext cx="8362427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 advTm="1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478</Words>
  <Application>Microsoft Office PowerPoint</Application>
  <PresentationFormat>On-screen Show (4:3)</PresentationFormat>
  <Paragraphs>33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21</cp:revision>
  <dcterms:created xsi:type="dcterms:W3CDTF">2026-01-20T05:30:21Z</dcterms:created>
  <dcterms:modified xsi:type="dcterms:W3CDTF">2026-07-10T18:47:36Z</dcterms:modified>
</cp:coreProperties>
</file>